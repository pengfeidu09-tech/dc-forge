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27432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8B7C9"/>
                </a:solidFill>
                <a:latin typeface="PingFang SC"/>
              </a:defRPr>
            </a:pPr>
            <a:r>
              <a:t>DCFORGE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7726679" cy="1417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PingFang SC"/>
              </a:defRPr>
            </a:pPr>
            <a:r>
              <a:t>大型汽车制造企业</a:t>
            </a:r>
            <a:br/>
            <a:r>
              <a:t>智能招采与采购合规解决方案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7726679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CDDAF2"/>
                </a:solidFill>
                <a:latin typeface="PingFang SC"/>
              </a:defRPr>
            </a:pPr>
            <a:r>
              <a:t>从客户沟通到需求基线、企业知识、方案评审和客户发布的完整售前闭环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069080"/>
            <a:ext cx="4389120" cy="621792"/>
          </a:xfrm>
          <a:prstGeom prst="roundRect">
            <a:avLst/>
          </a:prstGeom>
          <a:solidFill>
            <a:srgbClr val="172E60"/>
          </a:solidFill>
          <a:ln>
            <a:solidFill>
              <a:srgbClr val="172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261104"/>
            <a:ext cx="3931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客户交流与试点立项建议稿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074920"/>
            <a:ext cx="5212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CDDAF2"/>
                </a:solidFill>
                <a:latin typeface="PingFang SC"/>
              </a:defRPr>
            </a:pPr>
            <a:r>
              <a:t>面向：某大型汽车制造企业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504688"/>
            <a:ext cx="5212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A0B4D7"/>
                </a:solidFill>
                <a:latin typeface="PingFang SC"/>
              </a:defRPr>
            </a:pPr>
            <a:r>
              <a:t>DCForge 项目组 · 2026-08-15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00200"/>
            <a:ext cx="2148840" cy="3474720"/>
          </a:xfrm>
          <a:prstGeom prst="roundRect">
            <a:avLst/>
          </a:prstGeom>
          <a:solidFill>
            <a:srgbClr val="112652"/>
          </a:solidFill>
          <a:ln>
            <a:solidFill>
              <a:srgbClr val="112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0" y="1874519"/>
            <a:ext cx="1417320" cy="274320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3852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客户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286000"/>
            <a:ext cx="1417320" cy="27432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35000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697479"/>
            <a:ext cx="1417320" cy="27432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76148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108960"/>
            <a:ext cx="1417320" cy="27432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17296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知识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3520439"/>
            <a:ext cx="1417320" cy="27432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58444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方案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3931920"/>
            <a:ext cx="1417320" cy="27432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99592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评审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343400"/>
            <a:ext cx="1417320" cy="274320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407408"/>
            <a:ext cx="1417320" cy="137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01 客户现状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我们目前如何理解贵司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PingFang SC"/>
              </a:defRPr>
            </a:pPr>
            <a:r>
              <a:t>以下内容来自前期场景描述，需在项目启动阶段形成双方确认的 RequirementBaseline。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83080"/>
            <a:ext cx="53218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73152" cy="160020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984248"/>
            <a:ext cx="420624" cy="420624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3911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84248"/>
            <a:ext cx="43616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供应商准入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496312"/>
            <a:ext cx="4846320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供应商准入主要依赖人工核验材料和制度要求。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53218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783080"/>
            <a:ext cx="73152" cy="160020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64808" y="1984248"/>
            <a:ext cx="420624" cy="420624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3911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1984248"/>
            <a:ext cx="43616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询比价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96312"/>
            <a:ext cx="4846320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询比价过程需要人工收集报价、比对条件并整理说明。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886200"/>
            <a:ext cx="53218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886200"/>
            <a:ext cx="73152" cy="1600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4087368"/>
            <a:ext cx="420624" cy="42062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14223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087368"/>
            <a:ext cx="43616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合规审查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99432"/>
            <a:ext cx="4846320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采购合规审查依赖人工查制度、找条款和判断风险。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886200"/>
            <a:ext cx="53218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3886200"/>
            <a:ext cx="73152" cy="1600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64808" y="4087368"/>
            <a:ext cx="420624" cy="42062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14223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4087368"/>
            <a:ext cx="43616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采购运营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99432"/>
            <a:ext cx="4846320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采购周期较长，关键判断和操作的过程留痕不完整。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02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本次建议聚焦的问题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48640" cy="54864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48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380744"/>
            <a:ext cx="97840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PingFang SC"/>
              </a:defRPr>
            </a:pPr>
            <a:r>
              <a:t>资料分散在人员、系统和文档中，重复查找占用采购与合规人员时间。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96312"/>
            <a:ext cx="548640" cy="548640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51760"/>
            <a:ext cx="548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51176"/>
            <a:ext cx="97840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PingFang SC"/>
              </a:defRPr>
            </a:pPr>
            <a:r>
              <a:t>规则依赖个人经验，遇到特殊采购方式时难以快速形成一致判断。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548640" cy="5486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22191"/>
            <a:ext cx="548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721607"/>
            <a:ext cx="97840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PingFang SC"/>
              </a:defRPr>
            </a:pPr>
            <a:r>
              <a:t>需求、分析、方案、评审和客户反馈分散在不同入口，版本关系不清楚。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37176"/>
            <a:ext cx="54864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992624"/>
            <a:ext cx="548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892040"/>
            <a:ext cx="97840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PingFang SC"/>
              </a:defRPr>
            </a:pPr>
            <a:r>
              <a:t>缺少统一证据链，事后复核时难以说明依据、处理人和版本。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89320"/>
            <a:ext cx="10789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问题不在于缺少一个聊天机器人，而在于客户事实、知识证据、内部判断和对客成果没有形成同一条可追踪链路。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03 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建设目标和验收口径说明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2588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325880"/>
            <a:ext cx="73152" cy="16916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27048"/>
            <a:ext cx="3035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目标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3017520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建立供应商准入、询比价和采购合规审查的统一 AI 助手入口。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3" y="132588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3" y="1325880"/>
            <a:ext cx="73152" cy="169164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1527048"/>
            <a:ext cx="3035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目标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039112"/>
            <a:ext cx="3017520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把客户沟通转成可确认、可版本化的需求状态，而不是只保留聊天记录。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32588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1325880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7" y="1527048"/>
            <a:ext cx="3035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目标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2039112"/>
            <a:ext cx="3017520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让企业知识、外部情报和历史案例进入同一套有来源的研究过程。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4747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474720"/>
            <a:ext cx="73152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675887"/>
            <a:ext cx="3035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目标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187952"/>
            <a:ext cx="3017520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在内部评审通过后再向客户发布方案，避免内部信息直接对外。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3" y="347472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3983" y="3474720"/>
            <a:ext cx="73152" cy="16916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675887"/>
            <a:ext cx="303580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目标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4187952"/>
            <a:ext cx="3017520" cy="7955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形成可追踪的客户反馈闭环，并保留完整审计记录。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984" y="3657600"/>
            <a:ext cx="3493008" cy="1691640"/>
          </a:xfrm>
          <a:prstGeom prst="round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93192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口径说明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462272"/>
            <a:ext cx="2962656" cy="5852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D5E1F7"/>
                </a:solidFill>
                <a:latin typeface="PingFang SC"/>
              </a:defRPr>
            </a:pPr>
            <a:r>
              <a:t>本材料中的目标值是建议验收口径。双方应先确认基线、样本和计算方法，再判断是否达成。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04 方案架构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1965960" cy="658368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44751"/>
            <a:ext cx="16733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客户与员工入口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261872"/>
            <a:ext cx="5577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417319"/>
            <a:ext cx="5212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飞书客户机器人  ·  统一售前工作台  ·  客户需求与方案中心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380743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D6C85"/>
                </a:solidFill>
                <a:latin typeface="PingFang SC"/>
              </a:defRPr>
            </a:pPr>
            <a:r>
              <a:t>承接客户沟通、内部协作、确认和发布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21991"/>
            <a:ext cx="1965960" cy="658368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04872"/>
            <a:ext cx="16733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Agent 编排层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21991"/>
            <a:ext cx="5577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39"/>
            <a:ext cx="5212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会话 Agent  ·  任务编排  ·  权限与人工审批门禁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340863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D6C85"/>
                </a:solidFill>
                <a:latin typeface="PingFang SC"/>
              </a:defRPr>
            </a:pPr>
            <a:r>
              <a:t>根据用户身份、项目阶段和业务状态选择处理步骤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82112"/>
            <a:ext cx="1965960" cy="658368"/>
          </a:xfrm>
          <a:prstGeom prst="roundRect">
            <a:avLst/>
          </a:prstGeom>
          <a:solidFill>
            <a:srgbClr val="5367E8"/>
          </a:solidFill>
          <a:ln>
            <a:solidFill>
              <a:srgbClr val="53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364992"/>
            <a:ext cx="16733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需求与状态层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182112"/>
            <a:ext cx="5577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337560"/>
            <a:ext cx="5212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Requirement Intelligence  ·  业务状态池  ·  Baseline 与版本差异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300984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D6C85"/>
                </a:solidFill>
                <a:latin typeface="PingFang SC"/>
              </a:defRPr>
            </a:pPr>
            <a:r>
              <a:t>区分客户事实、待确认假设、冲突和缺口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42232"/>
            <a:ext cx="1965960" cy="65836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325112"/>
            <a:ext cx="16733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知识与工具层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142232"/>
            <a:ext cx="5577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4297680"/>
            <a:ext cx="5212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企业知识库  ·  外部情报  ·  MCP  ·  业务工具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261104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D6C85"/>
                </a:solidFill>
                <a:latin typeface="PingFang SC"/>
              </a:defRPr>
            </a:pPr>
            <a:r>
              <a:t>提供有权限、有时点、有来源的检索和执行能力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02352"/>
            <a:ext cx="1965960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285232"/>
            <a:ext cx="167335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方案与交付层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5102352"/>
            <a:ext cx="5577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5257800"/>
            <a:ext cx="5212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三档方案  ·  内部评审  ·  客户安全成果  ·  反馈回流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221224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D6C85"/>
                </a:solidFill>
                <a:latin typeface="PingFang SC"/>
              </a:defRPr>
            </a:pPr>
            <a:r>
              <a:t>把需求和证据转成可审查、可发布、可迭代的成果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72200"/>
            <a:ext cx="10789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1E5EFF"/>
                </a:solidFill>
                <a:latin typeface="PingFang SC"/>
              </a:defRPr>
            </a:pPr>
            <a:r>
              <a:t>核心原则：客户信息先进入需求和状态管理，再调用知识与工具。成果经过内部评审后才对外发布。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8B7C9"/>
                </a:solidFill>
                <a:latin typeface="PingFang SC"/>
              </a:defRPr>
            </a:pPr>
            <a:r>
              <a:t>05 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从客户机会到反馈迭代的完整闭环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81912"/>
            <a:ext cx="438912" cy="438912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099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618488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客户机会建立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1854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4173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2463" y="15819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7099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618488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需求分析与确认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1854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4173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15819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7099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618488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外部情报归档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1854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4173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81744" y="15819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17099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1618488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企业知识检索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1854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4747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" y="36393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37673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3675887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方案与成果草拟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42428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7872" y="34747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12463" y="36393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12463" y="37673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3675887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企业内部评审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4" y="42428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34747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47104" y="3639312"/>
            <a:ext cx="438912" cy="43891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37673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3675887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客户发布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4" y="42428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3474720"/>
            <a:ext cx="2395728" cy="1234440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81744" y="3639312"/>
            <a:ext cx="438912" cy="438912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1744" y="3767328"/>
            <a:ext cx="438912" cy="1463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0384" y="3675887"/>
            <a:ext cx="1481328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反馈迭代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4242816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B1C4E7"/>
                </a:solidFill>
                <a:latin typeface="PingFang SC"/>
              </a:defRPr>
            </a:pPr>
            <a:r>
              <a:t>事实与版本留痕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760720"/>
            <a:ext cx="10698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8B7C9"/>
                </a:solidFill>
                <a:latin typeface="PingFang SC"/>
              </a:defRPr>
            </a:pPr>
            <a:r>
              <a:t>每一阶段都由持久化事实推导状态，前端不能手工把项目标成完成。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06 重点场景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供应商准入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当前做法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1"/>
            <a:ext cx="277063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采购人员人工收集和核对资质、证照、制度要求与历史记录。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280160"/>
            <a:ext cx="3840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81912"/>
            <a:ext cx="3246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739"/>
                </a:solidFill>
                <a:latin typeface="PingFang SC"/>
              </a:defRPr>
            </a:pPr>
            <a:r>
              <a:t>AI 可以承担的工作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200400" cy="2148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识别材料类型、有效期、缺失项和字段不一致。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按准入制度匹配审核项，并给出依据和待补材料。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形成初审摘要和风险清单，推送给责任人复核。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28016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73152" cy="15544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1481328"/>
            <a:ext cx="26517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人工决策边界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1993391"/>
            <a:ext cx="263347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AI 不作最终准入决定。采购负责人按原流程审批。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1645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44728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系统交付证据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59352"/>
            <a:ext cx="277063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材料清单、规则命中依据、风险项、人工处理记录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246120"/>
            <a:ext cx="3108960" cy="1645920"/>
          </a:xfrm>
          <a:prstGeom prst="round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529584"/>
            <a:ext cx="25420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输出原则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41648"/>
            <a:ext cx="25146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D5E1F7"/>
                </a:solidFill>
                <a:latin typeface="PingFang SC"/>
              </a:defRPr>
            </a:pPr>
            <a:r>
              <a:t>给出建议的同时，显示依据、缺口、版本和处理人。证据不足时明确提示人工补充。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97880"/>
            <a:ext cx="10789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E5EFF"/>
                </a:solidFill>
                <a:latin typeface="PingFang SC"/>
              </a:defRPr>
            </a:pPr>
            <a:r>
              <a:t>试点从一类材料、一套规则和一条人工审批链开始，具体范围待双方确认。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07 重点场景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询比价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当前做法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1"/>
            <a:ext cx="277063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采购人员人工整理供应商报价、交付条件、质保和商务条款。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280160"/>
            <a:ext cx="3840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81912"/>
            <a:ext cx="3246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739"/>
                </a:solidFill>
                <a:latin typeface="PingFang SC"/>
              </a:defRPr>
            </a:pPr>
            <a:r>
              <a:t>AI 可以承担的工作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200400" cy="2148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结构化提取价格、税率、交付期、付款和质保条件。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标出缺项、异常差异和不可直接比较的口径。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生成比价说明草稿，保留原始报价引用。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28016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73152" cy="15544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1481328"/>
            <a:ext cx="26517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人工决策边界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1993391"/>
            <a:ext cx="263347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AI 不替代定标，也不绕过企业采购审批规则。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1645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44728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系统交付证据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59352"/>
            <a:ext cx="277063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报价对比表、差异说明、原始报价引用、人工确认记录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246120"/>
            <a:ext cx="3108960" cy="1645920"/>
          </a:xfrm>
          <a:prstGeom prst="round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529584"/>
            <a:ext cx="25420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输出原则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41648"/>
            <a:ext cx="25146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D5E1F7"/>
                </a:solidFill>
                <a:latin typeface="PingFang SC"/>
              </a:defRPr>
            </a:pPr>
            <a:r>
              <a:t>给出建议的同时，显示依据、缺口、版本和处理人。证据不足时明确提示人工补充。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97880"/>
            <a:ext cx="10789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E5EFF"/>
                </a:solidFill>
                <a:latin typeface="PingFang SC"/>
              </a:defRPr>
            </a:pPr>
            <a:r>
              <a:t>试点从一类材料、一套规则和一条人工审批链开始，具体范围待双方确认。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08 重点场景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采购合规审查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当前做法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1"/>
            <a:ext cx="277063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合规人员人工查找制度、合同和采购材料，逐条判断风险。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280160"/>
            <a:ext cx="3840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81912"/>
            <a:ext cx="3246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B1739"/>
                </a:solidFill>
                <a:latin typeface="PingFang SC"/>
              </a:defRPr>
            </a:pPr>
            <a:r>
              <a:t>AI 可以承担的工作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200400" cy="214884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识别采购方式、审批链、金额和例外情形。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检索适用制度条款，提示单一来源、审批缺失等风险。</a:t>
            </a:r>
          </a:p>
          <a:p>
            <a:pPr>
              <a:spcAft>
                <a:spcPts val="11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生成审查意见草稿并列明证据不足项。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28016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73152" cy="15544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1481328"/>
            <a:ext cx="26517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人工决策边界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1993391"/>
            <a:ext cx="2633472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高风险事项必须由合规、法务或采购委员会复核。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1645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447288"/>
            <a:ext cx="2788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系统交付证据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59352"/>
            <a:ext cx="2770632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适用条款、风险等级建议、证据缺口、最终人工意见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246120"/>
            <a:ext cx="3108960" cy="1645920"/>
          </a:xfrm>
          <a:prstGeom prst="round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529584"/>
            <a:ext cx="25420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输出原则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41648"/>
            <a:ext cx="25146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D5E1F7"/>
                </a:solidFill>
                <a:latin typeface="PingFang SC"/>
              </a:defRPr>
            </a:pPr>
            <a:r>
              <a:t>给出建议的同时，显示依据、缺口、版本和处理人。证据不足时明确提示人工补充。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97880"/>
            <a:ext cx="107899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1E5EFF"/>
                </a:solidFill>
                <a:latin typeface="PingFang SC"/>
              </a:defRPr>
            </a:pPr>
            <a:r>
              <a:t>试点从一类材料、一套规则和一条人工审批链开始，具体范围待双方确认。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09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Agent、知识库、MCP 与业务工具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53312"/>
            <a:ext cx="20299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1353312"/>
            <a:ext cx="2029968" cy="585216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36192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76272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飞书客户机器人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9776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07792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内部统一工作台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11296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客户方案中心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1353312"/>
            <a:ext cx="20299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6352" y="1353312"/>
            <a:ext cx="2029968" cy="585216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1536192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80944" y="2176272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2304288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身份识别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0944" y="2779776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4096" y="2907792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项目状态判断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0944" y="3383280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511296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任务编排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80944" y="3986783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4096" y="4114800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人工门禁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7216" y="1353312"/>
            <a:ext cx="20299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57216" y="1353312"/>
            <a:ext cx="2029968" cy="585216"/>
          </a:xfrm>
          <a:prstGeom prst="roundRect">
            <a:avLst/>
          </a:prstGeom>
          <a:solidFill>
            <a:srgbClr val="5367E8"/>
          </a:solidFill>
          <a:ln>
            <a:solidFill>
              <a:srgbClr val="53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1536192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智能能力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21808" y="2176272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2304288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Requirement Intelligence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21808" y="2779776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907792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企业知识检索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3383280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3511296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方案生成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21808" y="3986783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4114800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成果编辑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1353312"/>
            <a:ext cx="20299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79" y="1353312"/>
            <a:ext cx="2029968" cy="58521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4383" y="1536192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MCP 与工具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62671" y="2176272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35823" y="2304288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项目查询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1" y="2779776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5823" y="2907792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来源检索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62671" y="3383280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35823" y="3511296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供应商分析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62671" y="3986783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35823" y="4114800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文档审查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1" y="4590288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35823" y="4718304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方案编译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38944" y="1353312"/>
            <a:ext cx="20299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38944" y="1353312"/>
            <a:ext cx="2029968" cy="585216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85248" y="1536192"/>
            <a:ext cx="1737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治理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03536" y="2176272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76688" y="2304288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权限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03536" y="2779776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76688" y="2907792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时间边界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03536" y="3383280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76688" y="3511296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来源引用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03536" y="3986783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76688" y="4114800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审计日志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03536" y="4590288"/>
            <a:ext cx="1700784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76688" y="4718304"/>
            <a:ext cx="1554480" cy="1554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172033"/>
                </a:solidFill>
                <a:latin typeface="PingFang SC"/>
              </a:defRPr>
            </a:pPr>
            <a:r>
              <a:t>内部评审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0B1739"/>
                </a:solidFill>
                <a:latin typeface="PingFang SC"/>
              </a:defRPr>
            </a:pPr>
            <a:r>
              <a:t>Agent 不直接读取所有数据。每次检索和工具调用都需要项目、用户、时间和权限上下文。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10 需求与状态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业务状态池和需求版本机制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1874519" cy="109728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155448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B1739"/>
                </a:solidFill>
                <a:latin typeface="PingFang SC"/>
              </a:defRPr>
            </a:pPr>
            <a:r>
              <a:t>客户原话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D6C85"/>
                </a:solidFill>
                <a:latin typeface="PingFang SC"/>
              </a:defRPr>
            </a:pPr>
            <a:r>
              <a:t>保留会话与材料来源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984248"/>
            <a:ext cx="31089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E5E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481328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481328"/>
            <a:ext cx="1874519" cy="109728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783080"/>
            <a:ext cx="155448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B1739"/>
                </a:solidFill>
                <a:latin typeface="PingFang SC"/>
              </a:defRPr>
            </a:pPr>
            <a:r>
              <a:t>需求识别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67712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D6C85"/>
                </a:solidFill>
                <a:latin typeface="PingFang SC"/>
              </a:defRPr>
            </a:pPr>
            <a:r>
              <a:t>提取事实、假设、冲突和缺口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984248"/>
            <a:ext cx="31089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E5E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481328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481328"/>
            <a:ext cx="1874519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1783080"/>
            <a:ext cx="155448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B1739"/>
                </a:solidFill>
                <a:latin typeface="PingFang SC"/>
              </a:defRPr>
            </a:pPr>
            <a:r>
              <a:t>客户确认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67712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D6C85"/>
                </a:solidFill>
                <a:latin typeface="PingFang SC"/>
              </a:defRPr>
            </a:pPr>
            <a:r>
              <a:t>形成正式 RequirementBaseline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984248"/>
            <a:ext cx="31089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E5E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1481328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481328"/>
            <a:ext cx="1874519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783080"/>
            <a:ext cx="155448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B1739"/>
                </a:solidFill>
                <a:latin typeface="PingFang SC"/>
              </a:defRPr>
            </a:pPr>
            <a:r>
              <a:t>方案编译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267712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D6C85"/>
                </a:solidFill>
                <a:latin typeface="PingFang SC"/>
              </a:defRPr>
            </a:pPr>
            <a:r>
              <a:t>绑定 Baseline、研究和方案版本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1984248"/>
            <a:ext cx="31089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800" b="1">
                <a:solidFill>
                  <a:srgbClr val="1E5E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1481328"/>
            <a:ext cx="187451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481328"/>
            <a:ext cx="1874519" cy="109728"/>
          </a:xfrm>
          <a:prstGeom prst="rect">
            <a:avLst/>
          </a:prstGeom>
          <a:solidFill>
            <a:srgbClr val="5367E8"/>
          </a:solidFill>
          <a:ln>
            <a:solidFill>
              <a:srgbClr val="53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783080"/>
            <a:ext cx="155448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B1739"/>
                </a:solidFill>
                <a:latin typeface="PingFang SC"/>
              </a:defRPr>
            </a:pPr>
            <a:r>
              <a:t>反馈迭代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267712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5D6C85"/>
                </a:solidFill>
                <a:latin typeface="PingFang SC"/>
              </a:defRPr>
            </a:pPr>
            <a:r>
              <a:t>新信息生成新 State 与差异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493008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493008"/>
            <a:ext cx="73152" cy="1600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694176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状态不等于客户事实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06240"/>
            <a:ext cx="29535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外部情报、企业知识和 Agent 推断只作为证据或待确认假设，不能自动写入客户确认基线。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493008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493008"/>
            <a:ext cx="73152" cy="16002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3694176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编辑会使旧批准失效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4206240"/>
            <a:ext cx="29535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成果稿修改后修订号增加。发布前必须对当前修订重新批准。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3493008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2" y="3493008"/>
            <a:ext cx="73152" cy="1600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3694176"/>
            <a:ext cx="29718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客户反馈回到需求分析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206240"/>
            <a:ext cx="2953512" cy="7040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客户补充和纠正形成新的需求版本，内部员工可以查看变化和处理记录。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11 使用入口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企业员工和客户的双入口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91072" y="1298448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98448"/>
            <a:ext cx="5257800" cy="685800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1298448"/>
            <a:ext cx="5257800" cy="685800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17904"/>
            <a:ext cx="4709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企业内部统一售前工作台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517904"/>
            <a:ext cx="4709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客户需求与方案中心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4526280" cy="26974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飞书沟通时间线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RequirementState、缺口和 Baseline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资料、外部情报与知识研究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三档方案和成果稿编辑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内部批准、驳回和发布记录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95728"/>
            <a:ext cx="4526280" cy="26974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查看当前需求理解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确认、否定或补充需求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查看正式发布的解决方案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下载可编辑 HTML 成果</a:t>
            </a:r>
          </a:p>
          <a:p>
            <a:pPr>
              <a:spcAft>
                <a:spcPts val="1000"/>
              </a:spcAft>
              <a:defRPr sz="1400">
                <a:solidFill>
                  <a:srgbClr val="172033"/>
                </a:solidFill>
                <a:latin typeface="PingFang SC"/>
              </a:defRPr>
            </a:pPr>
            <a:r>
              <a:t>• 提交反馈并进入新一轮分析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5321808"/>
            <a:ext cx="5029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PingFang SC"/>
              </a:defRPr>
            </a:pPr>
            <a:r>
              <a:t>客户页面不显示内部评分、内部知识路径、工具标识和权限配置。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12 安全治理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数据、安全与人工决策边界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73152" cy="1152144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63039"/>
            <a:ext cx="420624" cy="420624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17904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463039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部署与数据域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75104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支持企业私有云或本地部署，具体形态由客户安全评审确定。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61872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73152" cy="1152144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463039"/>
            <a:ext cx="420624" cy="420624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17904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1463039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岗位权限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975104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采购资料在客户授权的数据域内处理，敏感字段按岗位和场景控制。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115214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944368"/>
            <a:ext cx="420624" cy="42062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99923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2944368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检索权限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456432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知识检索同时检查项目、用户、时间和来源权限。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743200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743200"/>
            <a:ext cx="73152" cy="11521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2944368"/>
            <a:ext cx="420624" cy="42062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99232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2944368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审计记录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456432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所有 AI 查询、工具调用、人工修改、评审和发布动作保留审计记录。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24528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24528"/>
            <a:ext cx="73152" cy="1152144"/>
          </a:xfrm>
          <a:prstGeom prst="rect">
            <a:avLst/>
          </a:prstGeom>
          <a:solidFill>
            <a:srgbClr val="5367E8"/>
          </a:solidFill>
          <a:ln>
            <a:solidFill>
              <a:srgbClr val="53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4425696"/>
            <a:ext cx="420624" cy="420624"/>
          </a:xfrm>
          <a:prstGeom prst="roundRect">
            <a:avLst/>
          </a:prstGeom>
          <a:solidFill>
            <a:srgbClr val="5367E8"/>
          </a:solidFill>
          <a:ln>
            <a:solidFill>
              <a:srgbClr val="53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480560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4425696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对客发布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937760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对客成果经过内部批准后发布，不显示内部评分、工具标识或系统路径。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224528"/>
            <a:ext cx="52578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224528"/>
            <a:ext cx="73152" cy="1152144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4425696"/>
            <a:ext cx="420624" cy="42062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80560"/>
            <a:ext cx="42062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4425696"/>
            <a:ext cx="42976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B1739"/>
                </a:solidFill>
                <a:latin typeface="PingFang SC"/>
              </a:defRPr>
            </a:pPr>
            <a:r>
              <a:t>人工审批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4937760"/>
            <a:ext cx="478231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D6C85"/>
                </a:solidFill>
                <a:latin typeface="PingFang SC"/>
              </a:defRPr>
            </a:pPr>
            <a:r>
              <a:t>AI 不直接执行准入、定标、采购审批、合同签署或付款。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8B7C9"/>
                </a:solidFill>
                <a:latin typeface="PingFang SC"/>
              </a:defRPr>
            </a:pPr>
            <a:r>
              <a:t>13 实施计划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分阶段实施路线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353312"/>
            <a:ext cx="2542032" cy="4443984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" y="1353312"/>
            <a:ext cx="2542032" cy="621792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阶段 0：需求基线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1031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把试点范围、规则、数据和验收口径确认清楚。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03120" cy="148132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业务访谈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制度与样本盘点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系统边界确认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RequirementBaseline 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2103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18B7C9"/>
                </a:solidFill>
                <a:latin typeface="PingFang SC"/>
              </a:defRPr>
            </a:pPr>
            <a:r>
              <a:t>建议 2 周，待双方排期确认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353312"/>
            <a:ext cx="2542032" cy="4443984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353312"/>
            <a:ext cx="2542032" cy="621792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554480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阶段 1：受控试点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240280"/>
            <a:ext cx="21031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在单一采购范围内验证准入或合规审查闭环。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063240"/>
            <a:ext cx="2103120" cy="148132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知识导入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规则配置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Agent 联调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历史样本回放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用户验收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937760"/>
            <a:ext cx="2103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18B7C9"/>
                </a:solidFill>
                <a:latin typeface="PingFang SC"/>
              </a:defRPr>
            </a:pPr>
            <a:r>
              <a:t>建议 4 周，待数据准备情况确认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353312"/>
            <a:ext cx="2542032" cy="4443984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5936" y="1353312"/>
            <a:ext cx="2542032" cy="6217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554480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阶段 2：生产试运行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240280"/>
            <a:ext cx="21031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接入企业系统并在真实流程中受控运行。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063240"/>
            <a:ext cx="2103120" cy="148132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SRM、ERP、OA 接口联调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权限配置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审计配置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灰度使用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运行复盘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937760"/>
            <a:ext cx="2103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18B7C9"/>
                </a:solidFill>
                <a:latin typeface="PingFang SC"/>
              </a:defRPr>
            </a:pPr>
            <a:r>
              <a:t>建议 6 至 8 周，待接口和安全评审确认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7152" y="1353312"/>
            <a:ext cx="2542032" cy="4443984"/>
          </a:xfrm>
          <a:prstGeom prst="roundRect">
            <a:avLst/>
          </a:prstGeom>
          <a:solidFill>
            <a:srgbClr val="132A58"/>
          </a:solidFill>
          <a:ln>
            <a:solidFill>
              <a:srgbClr val="305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17152" y="1353312"/>
            <a:ext cx="2542032" cy="6217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1554480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阶段 3：范围扩展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240280"/>
            <a:ext cx="21031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根据验证结果扩展品类、规则和组织范围。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063240"/>
            <a:ext cx="2103120" cy="148132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新增场景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知识运营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指标复盘</a:t>
            </a:r>
          </a:p>
          <a:p>
            <a:pPr>
              <a:spcAft>
                <a:spcPts val="500"/>
              </a:spcAft>
              <a:defRPr sz="1000">
                <a:solidFill>
                  <a:srgbClr val="CDDAF2"/>
                </a:solidFill>
                <a:latin typeface="PingFang SC"/>
              </a:defRPr>
            </a:pPr>
            <a:r>
              <a:t>• 模型和规则迭代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4937760"/>
            <a:ext cx="2103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1">
                <a:solidFill>
                  <a:srgbClr val="18B7C9"/>
                </a:solidFill>
                <a:latin typeface="PingFang SC"/>
              </a:defRPr>
            </a:pPr>
            <a:r>
              <a:t>按季度滚动规划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71616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8B7C9"/>
                </a:solidFill>
                <a:latin typeface="PingFang SC"/>
              </a:defRPr>
            </a:pPr>
            <a:r>
              <a:t>建议排期用于资源规划，正式周期取决于数据、接口、安全评审和双方人员安排。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14 验收口径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建议验收指标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34440"/>
            <a:ext cx="1325880" cy="475488"/>
          </a:xfrm>
          <a:prstGeom prst="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389888"/>
            <a:ext cx="121615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34440"/>
            <a:ext cx="3017520" cy="475488"/>
          </a:xfrm>
          <a:prstGeom prst="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1389888"/>
            <a:ext cx="2907791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5192" y="1234440"/>
            <a:ext cx="2240280" cy="475488"/>
          </a:xfrm>
          <a:prstGeom prst="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5" y="1389888"/>
            <a:ext cx="213055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建议口径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4114800" cy="475488"/>
          </a:xfrm>
          <a:prstGeom prst="rect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1389888"/>
            <a:ext cx="400507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验收证据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1709928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819656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需求与版本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7672" y="1709928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0824" y="1819656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已确认需求的来源可追溯率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5192" y="1709928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1819656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5472" y="1709928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1819656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RequirementBaseline、来源引用和版本差异记录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2331720"/>
            <a:ext cx="13258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441448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供应商准入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47672" y="2331720"/>
            <a:ext cx="301752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0824" y="2441448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约定材料类型的字段提取准确率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65192" y="2331720"/>
            <a:ext cx="22402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4" y="2441448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建议不低于 95%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5472" y="2331720"/>
            <a:ext cx="411480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2441448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双方确认的标注样本和回放报告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2953512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063240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采购合规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953512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3063240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约定重大风险类型的识别召回率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2953512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3063240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建议不低于 90%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2" y="2953512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8624" y="3063240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双方确认的风险样本集和评测报告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3575304"/>
            <a:ext cx="13258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3685032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证据与审计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3575304"/>
            <a:ext cx="301752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3685032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AI 建议的来源引用和操作留痕覆盖率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5192" y="3575304"/>
            <a:ext cx="22402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4" y="3685032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 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5472" y="3575304"/>
            <a:ext cx="411480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4" y="3685032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来源记录、工具调用记录、人工评审和发布记录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4197096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306824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权限安全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4197096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4306824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未授权数据泄露事件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65192" y="4197096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4" y="4306824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建议为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4197096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78624" y="4306824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权限测试、负向测试和审计日志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" y="4818888"/>
            <a:ext cx="13258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4928616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人工边界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4818888"/>
            <a:ext cx="301752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4928616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需人工审批事项的人工确认覆盖率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65192" y="4818888"/>
            <a:ext cx="224028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4" y="4928616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建议 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05472" y="4818888"/>
            <a:ext cx="4114800" cy="621792"/>
          </a:xfrm>
          <a:prstGeom prst="rect">
            <a:avLst/>
          </a:prstGeom>
          <a:solidFill>
            <a:srgbClr val="EDF2FA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78624" y="4928616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审批记录和人工门禁测试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" y="5440680"/>
            <a:ext cx="1325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5550408"/>
            <a:ext cx="11795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业务效率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5440680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0824" y="5550408"/>
            <a:ext cx="2871215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约定试点任务的平均人工处理时间变化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65192" y="5440680"/>
            <a:ext cx="22402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4" y="5550408"/>
            <a:ext cx="209397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先采集基线，再由双方确定目标值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5472" y="5440680"/>
            <a:ext cx="4114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78624" y="5550408"/>
            <a:ext cx="3968496" cy="3657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defRPr sz="850" b="0">
                <a:solidFill>
                  <a:srgbClr val="172033"/>
                </a:solidFill>
                <a:latin typeface="PingFang SC"/>
              </a:defRPr>
            </a:pPr>
            <a:r>
              <a:t>试点前后同口径任务记录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6144768"/>
            <a:ext cx="10881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PingFang SC"/>
              </a:defRPr>
            </a:pPr>
            <a:r>
              <a:t>所有阈值均待双方确认。验收前应冻结样本集、计算口径、人工金标准和异常处理规则。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15 建设选择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三档建设范围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98448"/>
            <a:ext cx="343814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3438144" cy="676656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307238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快速验证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29260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0B1739"/>
                </a:solidFill>
                <a:latin typeface="PingFang SC"/>
              </a:defRPr>
            </a:pPr>
            <a:r>
              <a:t>需要先证明可用性和安全边界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99232"/>
            <a:ext cx="2743200" cy="15727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一个优先场景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离线或脱敏数据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知识检索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人工评审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试点评测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846320"/>
            <a:ext cx="2880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5D6C85"/>
                </a:solidFill>
                <a:latin typeface="PingFang SC"/>
              </a:defRPr>
            </a:pPr>
            <a:r>
              <a:t>客户提供样本、制度和人工结果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340096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18B7C9"/>
                </a:solidFill>
                <a:latin typeface="PingFang SC"/>
              </a:defRPr>
            </a:pPr>
            <a:r>
              <a:t>适合作为首次合作入口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298448"/>
            <a:ext cx="343814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3" y="1298448"/>
            <a:ext cx="3438144" cy="676656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517904"/>
            <a:ext cx="307238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生产试点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240280"/>
            <a:ext cx="29260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0B1739"/>
                </a:solidFill>
                <a:latin typeface="PingFang SC"/>
              </a:defRPr>
            </a:pPr>
            <a:r>
              <a:t>需要进入真实采购流程受控使用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3" y="2999232"/>
            <a:ext cx="2743200" cy="15727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供应商准入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询比价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合规审查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SRM、ERP、OA 接口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权限审计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3" y="4846320"/>
            <a:ext cx="2880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5D6C85"/>
                </a:solidFill>
                <a:latin typeface="PingFang SC"/>
              </a:defRPr>
            </a:pPr>
            <a:r>
              <a:t>完成系统接口和数据安全审批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3" y="5340096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本方案建议的目标形态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1298448"/>
            <a:ext cx="343814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6175" y="1298448"/>
            <a:ext cx="3438144" cy="676656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1517904"/>
            <a:ext cx="3072384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集团扩展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2240280"/>
            <a:ext cx="29260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0B1739"/>
                </a:solidFill>
                <a:latin typeface="PingFang SC"/>
              </a:defRPr>
            </a:pPr>
            <a:r>
              <a:t>需要跨组织、跨品类运营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5" y="2999232"/>
            <a:ext cx="2743200" cy="1572768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集团知识运营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多组织权限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更多采购场景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指标运营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PingFang SC"/>
              </a:defRPr>
            </a:pPr>
            <a:r>
              <a:t>• 持续迭代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4846320"/>
            <a:ext cx="2880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5D6C85"/>
                </a:solidFill>
                <a:latin typeface="PingFang SC"/>
              </a:defRPr>
            </a:pPr>
            <a:r>
              <a:t>生产试点验收通过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5340096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PingFang SC"/>
              </a:defRPr>
            </a:pPr>
            <a:r>
              <a:t>根据试点结果分批推进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0B1739"/>
                </a:solidFill>
                <a:latin typeface="PingFang SC"/>
              </a:defRPr>
            </a:pPr>
            <a:r>
              <a:t>建议先完成需求基线和受控试点，再确认生产范围与商务报价。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E5EFF"/>
                </a:solidFill>
                <a:latin typeface="PingFang SC"/>
              </a:defRPr>
            </a:pPr>
            <a:r>
              <a:t>16 风险与前提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0B1739"/>
                </a:solidFill>
                <a:latin typeface="PingFang SC"/>
              </a:defRPr>
            </a:pPr>
            <a:r>
              <a:t>项目风险与双方待确认事项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5D6C85"/>
                </a:solidFill>
                <a:latin typeface="PingFang SC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61872"/>
            <a:ext cx="5303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261872"/>
            <a:ext cx="53035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B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4709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B1739"/>
                </a:solidFill>
                <a:latin typeface="PingFang SC"/>
              </a:defRPr>
            </a:pPr>
            <a:r>
              <a:t>主要项目风险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617720" cy="315468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制度和样本不完整会影响识别与评测结果。</a:t>
            </a:r>
          </a:p>
          <a:p>
            <a:pPr>
              <a:spcAft>
                <a:spcPts val="10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接口或权限审批延迟会影响生产试运行排期。</a:t>
            </a:r>
          </a:p>
          <a:p>
            <a:pPr>
              <a:spcAft>
                <a:spcPts val="10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不同组织和品类规则差异较大，需要分范围配置。</a:t>
            </a:r>
          </a:p>
          <a:p>
            <a:pPr>
              <a:spcAft>
                <a:spcPts val="10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没有冻结样本和计算口径时，效率与准确率无法客观验收。</a:t>
            </a:r>
          </a:p>
          <a:p>
            <a:pPr>
              <a:spcAft>
                <a:spcPts val="1000"/>
              </a:spcAft>
              <a:defRPr sz="1300">
                <a:solidFill>
                  <a:srgbClr val="172033"/>
                </a:solidFill>
                <a:latin typeface="PingFang SC"/>
              </a:defRPr>
            </a:pPr>
            <a:r>
              <a:t>• AI 建议必须保留人工复核，避免越过采购治理边界。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591056"/>
            <a:ext cx="4709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B1739"/>
                </a:solidFill>
                <a:latin typeface="PingFang SC"/>
              </a:defRPr>
            </a:pPr>
            <a:r>
              <a:t>需要双方确认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76272"/>
            <a:ext cx="4617720" cy="3337560"/>
          </a:xfrm>
          <a:prstGeom prst="rect">
            <a:avLst/>
          </a:prstGeom>
          <a:noFill/>
        </p:spPr>
        <p:txBody>
          <a:bodyPr wrap="non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首个试点优先选择供应商准入、询比价还是采购合规审查？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试点涉及哪些采购品类、组织和用户角色？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现有审批规则、金额阈值和例外情形以哪套制度为准？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可用于试点的历史材料、制度、报价和标注结果有哪些？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SRM、ERP、OA 可以提供哪些接口和测试环境？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  <a:latin typeface="PingFang SC"/>
              </a:defRPr>
            </a:pPr>
            <a:r>
              <a:t>• 部署、网络、模型、日志、脱敏和数据留存要求是什么？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8B7C9"/>
                </a:solidFill>
                <a:latin typeface="PingFang SC"/>
              </a:defRPr>
            </a:pPr>
            <a:r>
              <a:t>17 行动安排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建议下一步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76809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DCForge · 客户交流与试点立项建议稿 ·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defRPr sz="800" b="0">
                <a:solidFill>
                  <a:srgbClr val="AAB8D2"/>
                </a:solidFill>
                <a:latin typeface="PingFang SC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234440"/>
            <a:ext cx="658368" cy="658368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35608"/>
            <a:ext cx="65836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261872"/>
            <a:ext cx="21488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场景确认会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80160"/>
            <a:ext cx="6583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CDDAF2"/>
                </a:solidFill>
                <a:latin typeface="PingFang SC"/>
              </a:defRPr>
            </a:pPr>
            <a:r>
              <a:t>确定首个试点场景、参与部门和负责人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404872"/>
            <a:ext cx="658368" cy="658368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06040"/>
            <a:ext cx="65836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432303"/>
            <a:ext cx="21488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资料与系统盘点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50591"/>
            <a:ext cx="6583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CDDAF2"/>
                </a:solidFill>
                <a:latin typeface="PingFang SC"/>
              </a:defRPr>
            </a:pPr>
            <a:r>
              <a:t>确认制度、样本、接口、部署和权限边界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575304"/>
            <a:ext cx="658368" cy="658368"/>
          </a:xfrm>
          <a:prstGeom prst="roundRect">
            <a:avLst/>
          </a:prstGeom>
          <a:solidFill>
            <a:srgbClr val="1E5E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76472"/>
            <a:ext cx="65836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602736"/>
            <a:ext cx="21488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需求基线评审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21024"/>
            <a:ext cx="6583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CDDAF2"/>
                </a:solidFill>
                <a:latin typeface="PingFang SC"/>
              </a:defRPr>
            </a:pPr>
            <a:r>
              <a:t>冻结试点范围、样本集、指标和人工决策点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4745736"/>
            <a:ext cx="658368" cy="658368"/>
          </a:xfrm>
          <a:prstGeom prst="round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946903"/>
            <a:ext cx="65836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773168"/>
            <a:ext cx="21488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受控试点启动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791455"/>
            <a:ext cx="6583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CDDAF2"/>
                </a:solidFill>
                <a:latin typeface="PingFang SC"/>
              </a:defRPr>
            </a:pPr>
            <a:r>
              <a:t>按确认计划完成配置、联调、回放和验收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989320"/>
            <a:ext cx="10332720" cy="64008"/>
          </a:xfrm>
          <a:prstGeom prst="rect">
            <a:avLst/>
          </a:prstGeom>
          <a:solidFill>
            <a:srgbClr val="18B7C9"/>
          </a:solidFill>
          <a:ln>
            <a:solidFill>
              <a:srgbClr val="1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199632"/>
            <a:ext cx="10287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18B7C9"/>
                </a:solidFill>
                <a:latin typeface="PingFang SC"/>
              </a:defRPr>
            </a:pPr>
            <a:r>
              <a:t>本材料可直接用于首次正式汇报和试点立项讨论。正式实施以双方确认的需求基线、合同和验收附件为准。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大型汽车制造企业智能招采与采购合规解决方案</dc:title>
  <dc:subject>客户交流与试点立项建议稿</dc:subject>
  <dc:creator>DCForge 项目组</dc:creator>
  <cp:keywords/>
  <dc:description>指标为建议验收口径，业务成果尚未验证。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